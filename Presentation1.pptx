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5A80286-ED66-4E26-B87E-69979AB7471D}">
          <p14:sldIdLst>
            <p14:sldId id="256"/>
            <p14:sldId id="257"/>
            <p14:sldId id="259"/>
            <p14:sldId id="258"/>
            <p14:sldId id="260"/>
            <p14:sldId id="261"/>
            <p14:sldId id="262"/>
            <p14:sldId id="263"/>
            <p14:sldId id="264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A425"/>
    <a:srgbClr val="DBF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p\Desktop\procjcet1\merge1_2_3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hp\Desktop\procjcet1\merge1_2_3.xlsx" TargetMode="External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hp\Desktop\procjcet1\merge1_2_3.xlsx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8"/>
    </mc:Choice>
    <mc:Fallback>
      <c:style val="48"/>
    </mc:Fallback>
  </mc:AlternateContent>
  <c:pivotSource>
    <c:name>[merge1_2_3.xlsx]dteday1!PivotTable6</c:name>
    <c:fmtId val="151"/>
  </c:pivotSource>
  <c:chart>
    <c:autoTitleDeleted val="1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marker>
          <c:symbol val="none"/>
        </c:marker>
      </c:pivotFmt>
      <c:pivotFmt>
        <c:idx val="5"/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2039523386290413"/>
          <c:y val="4.9131608327672154E-2"/>
          <c:w val="0.82119486723697366"/>
          <c:h val="0.88540025607355111"/>
        </c:manualLayout>
      </c:layout>
      <c:lineChart>
        <c:grouping val="percentStacked"/>
        <c:varyColors val="0"/>
        <c:ser>
          <c:idx val="0"/>
          <c:order val="0"/>
          <c:tx>
            <c:strRef>
              <c:f>dteday1!$B$3</c:f>
              <c:strCache>
                <c:ptCount val="1"/>
                <c:pt idx="0">
                  <c:v>Sum of casual</c:v>
                </c:pt>
              </c:strCache>
            </c:strRef>
          </c:tx>
          <c:marker>
            <c:symbol val="none"/>
          </c:marker>
          <c:cat>
            <c:strRef>
              <c:f>dteday1!$A$4:$A$49</c:f>
              <c:strCache>
                <c:ptCount val="45"/>
                <c:pt idx="0">
                  <c:v>1/1/11</c:v>
                </c:pt>
                <c:pt idx="1">
                  <c:v>2/1/11</c:v>
                </c:pt>
                <c:pt idx="2">
                  <c:v>3/1/11</c:v>
                </c:pt>
                <c:pt idx="3">
                  <c:v>4/1/11</c:v>
                </c:pt>
                <c:pt idx="4">
                  <c:v>5/1/11</c:v>
                </c:pt>
                <c:pt idx="5">
                  <c:v>6/1/11</c:v>
                </c:pt>
                <c:pt idx="6">
                  <c:v>7/1/11</c:v>
                </c:pt>
                <c:pt idx="7">
                  <c:v>8/1/11</c:v>
                </c:pt>
                <c:pt idx="8">
                  <c:v>9/1/11</c:v>
                </c:pt>
                <c:pt idx="9">
                  <c:v>10/1/11</c:v>
                </c:pt>
                <c:pt idx="10">
                  <c:v>11/1/11</c:v>
                </c:pt>
                <c:pt idx="11">
                  <c:v>12/1/11</c:v>
                </c:pt>
                <c:pt idx="12">
                  <c:v>13/1/11</c:v>
                </c:pt>
                <c:pt idx="13">
                  <c:v>14/1/11</c:v>
                </c:pt>
                <c:pt idx="14">
                  <c:v>15/1/11</c:v>
                </c:pt>
                <c:pt idx="15">
                  <c:v>16/1/11</c:v>
                </c:pt>
                <c:pt idx="16">
                  <c:v>17/1/11</c:v>
                </c:pt>
                <c:pt idx="17">
                  <c:v>18/1/11</c:v>
                </c:pt>
                <c:pt idx="18">
                  <c:v>19/1/11</c:v>
                </c:pt>
                <c:pt idx="19">
                  <c:v>20/1/11</c:v>
                </c:pt>
                <c:pt idx="20">
                  <c:v>21/1/11</c:v>
                </c:pt>
                <c:pt idx="21">
                  <c:v>22/1/11</c:v>
                </c:pt>
                <c:pt idx="22">
                  <c:v>23/1/11</c:v>
                </c:pt>
                <c:pt idx="23">
                  <c:v>24/1/11</c:v>
                </c:pt>
                <c:pt idx="24">
                  <c:v>25/1/11</c:v>
                </c:pt>
                <c:pt idx="25">
                  <c:v>26/1/11</c:v>
                </c:pt>
                <c:pt idx="26">
                  <c:v>27/1/11</c:v>
                </c:pt>
                <c:pt idx="27">
                  <c:v>28/1/11</c:v>
                </c:pt>
                <c:pt idx="28">
                  <c:v>29/1/11</c:v>
                </c:pt>
                <c:pt idx="29">
                  <c:v>30/1/11</c:v>
                </c:pt>
                <c:pt idx="30">
                  <c:v>31/1/11</c:v>
                </c:pt>
                <c:pt idx="31">
                  <c:v>1/2/11</c:v>
                </c:pt>
                <c:pt idx="32">
                  <c:v>2/2/11</c:v>
                </c:pt>
                <c:pt idx="33">
                  <c:v>3/2/11</c:v>
                </c:pt>
                <c:pt idx="34">
                  <c:v>4/2/11</c:v>
                </c:pt>
                <c:pt idx="35">
                  <c:v>5/2/11</c:v>
                </c:pt>
                <c:pt idx="36">
                  <c:v>6/2/11</c:v>
                </c:pt>
                <c:pt idx="37">
                  <c:v>7/2/11</c:v>
                </c:pt>
                <c:pt idx="38">
                  <c:v>8/2/11</c:v>
                </c:pt>
                <c:pt idx="39">
                  <c:v>9/2/11</c:v>
                </c:pt>
                <c:pt idx="40">
                  <c:v>10/2/11</c:v>
                </c:pt>
                <c:pt idx="41">
                  <c:v>11/2/11</c:v>
                </c:pt>
                <c:pt idx="42">
                  <c:v>12/2/11</c:v>
                </c:pt>
                <c:pt idx="43">
                  <c:v>13/2/11</c:v>
                </c:pt>
                <c:pt idx="44">
                  <c:v>14/2/11</c:v>
                </c:pt>
              </c:strCache>
            </c:strRef>
          </c:cat>
          <c:val>
            <c:numRef>
              <c:f>dteday1!$B$4:$B$49</c:f>
              <c:numCache>
                <c:formatCode>General</c:formatCode>
                <c:ptCount val="45"/>
                <c:pt idx="0">
                  <c:v>331</c:v>
                </c:pt>
                <c:pt idx="1">
                  <c:v>131</c:v>
                </c:pt>
                <c:pt idx="2">
                  <c:v>120</c:v>
                </c:pt>
                <c:pt idx="3">
                  <c:v>108</c:v>
                </c:pt>
                <c:pt idx="4">
                  <c:v>82</c:v>
                </c:pt>
                <c:pt idx="5">
                  <c:v>88</c:v>
                </c:pt>
                <c:pt idx="6">
                  <c:v>148</c:v>
                </c:pt>
                <c:pt idx="7">
                  <c:v>68</c:v>
                </c:pt>
                <c:pt idx="8">
                  <c:v>54</c:v>
                </c:pt>
                <c:pt idx="9">
                  <c:v>41</c:v>
                </c:pt>
                <c:pt idx="10">
                  <c:v>43</c:v>
                </c:pt>
                <c:pt idx="11">
                  <c:v>25</c:v>
                </c:pt>
                <c:pt idx="12">
                  <c:v>38</c:v>
                </c:pt>
                <c:pt idx="13">
                  <c:v>54</c:v>
                </c:pt>
                <c:pt idx="14">
                  <c:v>222</c:v>
                </c:pt>
                <c:pt idx="15">
                  <c:v>251</c:v>
                </c:pt>
                <c:pt idx="16">
                  <c:v>117</c:v>
                </c:pt>
                <c:pt idx="17">
                  <c:v>9</c:v>
                </c:pt>
                <c:pt idx="18">
                  <c:v>78</c:v>
                </c:pt>
                <c:pt idx="19">
                  <c:v>83</c:v>
                </c:pt>
                <c:pt idx="20">
                  <c:v>75</c:v>
                </c:pt>
                <c:pt idx="21">
                  <c:v>93</c:v>
                </c:pt>
                <c:pt idx="22">
                  <c:v>150</c:v>
                </c:pt>
                <c:pt idx="23">
                  <c:v>86</c:v>
                </c:pt>
                <c:pt idx="24">
                  <c:v>186</c:v>
                </c:pt>
                <c:pt idx="25">
                  <c:v>34</c:v>
                </c:pt>
                <c:pt idx="26">
                  <c:v>15</c:v>
                </c:pt>
                <c:pt idx="27">
                  <c:v>38</c:v>
                </c:pt>
                <c:pt idx="28">
                  <c:v>123</c:v>
                </c:pt>
                <c:pt idx="29">
                  <c:v>140</c:v>
                </c:pt>
                <c:pt idx="30">
                  <c:v>42</c:v>
                </c:pt>
                <c:pt idx="31">
                  <c:v>47</c:v>
                </c:pt>
                <c:pt idx="32">
                  <c:v>72</c:v>
                </c:pt>
                <c:pt idx="33">
                  <c:v>61</c:v>
                </c:pt>
                <c:pt idx="34">
                  <c:v>88</c:v>
                </c:pt>
                <c:pt idx="35">
                  <c:v>100</c:v>
                </c:pt>
                <c:pt idx="36">
                  <c:v>354</c:v>
                </c:pt>
                <c:pt idx="37">
                  <c:v>120</c:v>
                </c:pt>
                <c:pt idx="38">
                  <c:v>64</c:v>
                </c:pt>
                <c:pt idx="39">
                  <c:v>53</c:v>
                </c:pt>
                <c:pt idx="40">
                  <c:v>47</c:v>
                </c:pt>
                <c:pt idx="41">
                  <c:v>149</c:v>
                </c:pt>
                <c:pt idx="42">
                  <c:v>288</c:v>
                </c:pt>
                <c:pt idx="43">
                  <c:v>397</c:v>
                </c:pt>
                <c:pt idx="44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dteday1!$C$3</c:f>
              <c:strCache>
                <c:ptCount val="1"/>
                <c:pt idx="0">
                  <c:v>Sum of registered</c:v>
                </c:pt>
              </c:strCache>
            </c:strRef>
          </c:tx>
          <c:marker>
            <c:symbol val="none"/>
          </c:marker>
          <c:cat>
            <c:strRef>
              <c:f>dteday1!$A$4:$A$49</c:f>
              <c:strCache>
                <c:ptCount val="45"/>
                <c:pt idx="0">
                  <c:v>1/1/11</c:v>
                </c:pt>
                <c:pt idx="1">
                  <c:v>2/1/11</c:v>
                </c:pt>
                <c:pt idx="2">
                  <c:v>3/1/11</c:v>
                </c:pt>
                <c:pt idx="3">
                  <c:v>4/1/11</c:v>
                </c:pt>
                <c:pt idx="4">
                  <c:v>5/1/11</c:v>
                </c:pt>
                <c:pt idx="5">
                  <c:v>6/1/11</c:v>
                </c:pt>
                <c:pt idx="6">
                  <c:v>7/1/11</c:v>
                </c:pt>
                <c:pt idx="7">
                  <c:v>8/1/11</c:v>
                </c:pt>
                <c:pt idx="8">
                  <c:v>9/1/11</c:v>
                </c:pt>
                <c:pt idx="9">
                  <c:v>10/1/11</c:v>
                </c:pt>
                <c:pt idx="10">
                  <c:v>11/1/11</c:v>
                </c:pt>
                <c:pt idx="11">
                  <c:v>12/1/11</c:v>
                </c:pt>
                <c:pt idx="12">
                  <c:v>13/1/11</c:v>
                </c:pt>
                <c:pt idx="13">
                  <c:v>14/1/11</c:v>
                </c:pt>
                <c:pt idx="14">
                  <c:v>15/1/11</c:v>
                </c:pt>
                <c:pt idx="15">
                  <c:v>16/1/11</c:v>
                </c:pt>
                <c:pt idx="16">
                  <c:v>17/1/11</c:v>
                </c:pt>
                <c:pt idx="17">
                  <c:v>18/1/11</c:v>
                </c:pt>
                <c:pt idx="18">
                  <c:v>19/1/11</c:v>
                </c:pt>
                <c:pt idx="19">
                  <c:v>20/1/11</c:v>
                </c:pt>
                <c:pt idx="20">
                  <c:v>21/1/11</c:v>
                </c:pt>
                <c:pt idx="21">
                  <c:v>22/1/11</c:v>
                </c:pt>
                <c:pt idx="22">
                  <c:v>23/1/11</c:v>
                </c:pt>
                <c:pt idx="23">
                  <c:v>24/1/11</c:v>
                </c:pt>
                <c:pt idx="24">
                  <c:v>25/1/11</c:v>
                </c:pt>
                <c:pt idx="25">
                  <c:v>26/1/11</c:v>
                </c:pt>
                <c:pt idx="26">
                  <c:v>27/1/11</c:v>
                </c:pt>
                <c:pt idx="27">
                  <c:v>28/1/11</c:v>
                </c:pt>
                <c:pt idx="28">
                  <c:v>29/1/11</c:v>
                </c:pt>
                <c:pt idx="29">
                  <c:v>30/1/11</c:v>
                </c:pt>
                <c:pt idx="30">
                  <c:v>31/1/11</c:v>
                </c:pt>
                <c:pt idx="31">
                  <c:v>1/2/11</c:v>
                </c:pt>
                <c:pt idx="32">
                  <c:v>2/2/11</c:v>
                </c:pt>
                <c:pt idx="33">
                  <c:v>3/2/11</c:v>
                </c:pt>
                <c:pt idx="34">
                  <c:v>4/2/11</c:v>
                </c:pt>
                <c:pt idx="35">
                  <c:v>5/2/11</c:v>
                </c:pt>
                <c:pt idx="36">
                  <c:v>6/2/11</c:v>
                </c:pt>
                <c:pt idx="37">
                  <c:v>7/2/11</c:v>
                </c:pt>
                <c:pt idx="38">
                  <c:v>8/2/11</c:v>
                </c:pt>
                <c:pt idx="39">
                  <c:v>9/2/11</c:v>
                </c:pt>
                <c:pt idx="40">
                  <c:v>10/2/11</c:v>
                </c:pt>
                <c:pt idx="41">
                  <c:v>11/2/11</c:v>
                </c:pt>
                <c:pt idx="42">
                  <c:v>12/2/11</c:v>
                </c:pt>
                <c:pt idx="43">
                  <c:v>13/2/11</c:v>
                </c:pt>
                <c:pt idx="44">
                  <c:v>14/2/11</c:v>
                </c:pt>
              </c:strCache>
            </c:strRef>
          </c:cat>
          <c:val>
            <c:numRef>
              <c:f>dteday1!$C$4:$C$49</c:f>
              <c:numCache>
                <c:formatCode>General</c:formatCode>
                <c:ptCount val="45"/>
                <c:pt idx="0">
                  <c:v>654</c:v>
                </c:pt>
                <c:pt idx="1">
                  <c:v>670</c:v>
                </c:pt>
                <c:pt idx="2">
                  <c:v>1229</c:v>
                </c:pt>
                <c:pt idx="3">
                  <c:v>1454</c:v>
                </c:pt>
                <c:pt idx="4">
                  <c:v>1518</c:v>
                </c:pt>
                <c:pt idx="5">
                  <c:v>1518</c:v>
                </c:pt>
                <c:pt idx="6">
                  <c:v>1362</c:v>
                </c:pt>
                <c:pt idx="7">
                  <c:v>891</c:v>
                </c:pt>
                <c:pt idx="8">
                  <c:v>768</c:v>
                </c:pt>
                <c:pt idx="9">
                  <c:v>1280</c:v>
                </c:pt>
                <c:pt idx="10">
                  <c:v>1220</c:v>
                </c:pt>
                <c:pt idx="11">
                  <c:v>1137</c:v>
                </c:pt>
                <c:pt idx="12">
                  <c:v>1368</c:v>
                </c:pt>
                <c:pt idx="13">
                  <c:v>1367</c:v>
                </c:pt>
                <c:pt idx="14">
                  <c:v>1026</c:v>
                </c:pt>
                <c:pt idx="15">
                  <c:v>953</c:v>
                </c:pt>
                <c:pt idx="16">
                  <c:v>883</c:v>
                </c:pt>
                <c:pt idx="17">
                  <c:v>674</c:v>
                </c:pt>
                <c:pt idx="18">
                  <c:v>1572</c:v>
                </c:pt>
                <c:pt idx="19">
                  <c:v>1844</c:v>
                </c:pt>
                <c:pt idx="20">
                  <c:v>1468</c:v>
                </c:pt>
                <c:pt idx="21">
                  <c:v>888</c:v>
                </c:pt>
                <c:pt idx="22">
                  <c:v>836</c:v>
                </c:pt>
                <c:pt idx="23">
                  <c:v>1330</c:v>
                </c:pt>
                <c:pt idx="24">
                  <c:v>1799</c:v>
                </c:pt>
                <c:pt idx="25">
                  <c:v>472</c:v>
                </c:pt>
                <c:pt idx="26">
                  <c:v>416</c:v>
                </c:pt>
                <c:pt idx="27">
                  <c:v>1129</c:v>
                </c:pt>
                <c:pt idx="28">
                  <c:v>975</c:v>
                </c:pt>
                <c:pt idx="29">
                  <c:v>956</c:v>
                </c:pt>
                <c:pt idx="30">
                  <c:v>1459</c:v>
                </c:pt>
                <c:pt idx="31">
                  <c:v>1313</c:v>
                </c:pt>
                <c:pt idx="32">
                  <c:v>1454</c:v>
                </c:pt>
                <c:pt idx="33">
                  <c:v>1489</c:v>
                </c:pt>
                <c:pt idx="34">
                  <c:v>1620</c:v>
                </c:pt>
                <c:pt idx="35">
                  <c:v>905</c:v>
                </c:pt>
                <c:pt idx="36">
                  <c:v>1269</c:v>
                </c:pt>
                <c:pt idx="37">
                  <c:v>1592</c:v>
                </c:pt>
                <c:pt idx="38">
                  <c:v>1466</c:v>
                </c:pt>
                <c:pt idx="39">
                  <c:v>1552</c:v>
                </c:pt>
                <c:pt idx="40">
                  <c:v>1491</c:v>
                </c:pt>
                <c:pt idx="41">
                  <c:v>1597</c:v>
                </c:pt>
                <c:pt idx="42">
                  <c:v>1184</c:v>
                </c:pt>
                <c:pt idx="43">
                  <c:v>1192</c:v>
                </c:pt>
                <c:pt idx="44">
                  <c:v>143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074432"/>
        <c:axId val="165220736"/>
      </c:lineChart>
      <c:catAx>
        <c:axId val="16507443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1"/>
                </a:solidFill>
              </a:defRPr>
            </a:pPr>
            <a:endParaRPr lang="en-US"/>
          </a:p>
        </c:txPr>
        <c:crossAx val="165220736"/>
        <c:crosses val="autoZero"/>
        <c:auto val="1"/>
        <c:lblAlgn val="ctr"/>
        <c:lblOffset val="100"/>
        <c:noMultiLvlLbl val="0"/>
      </c:catAx>
      <c:valAx>
        <c:axId val="16522073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1"/>
                </a:solidFill>
              </a:defRPr>
            </a:pPr>
            <a:endParaRPr lang="en-US"/>
          </a:p>
        </c:txPr>
        <c:crossAx val="165074432"/>
        <c:crosses val="autoZero"/>
        <c:crossBetween val="between"/>
      </c:valAx>
      <c:spPr>
        <a:solidFill>
          <a:schemeClr val="bg2">
            <a:lumMod val="40000"/>
            <a:lumOff val="6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c:spPr>
    </c:plotArea>
    <c:legend>
      <c:legendPos val="r"/>
      <c:layout>
        <c:manualLayout>
          <c:xMode val="edge"/>
          <c:yMode val="edge"/>
          <c:x val="0.65889123430729923"/>
          <c:y val="6.0561943505697488E-4"/>
          <c:w val="0.34110876569270082"/>
          <c:h val="0.17635447913194829"/>
        </c:manualLayout>
      </c:layout>
      <c:overlay val="0"/>
      <c:txPr>
        <a:bodyPr/>
        <a:lstStyle/>
        <a:p>
          <a:pPr>
            <a:defRPr b="1"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>
        <a:lumMod val="50000"/>
        <a:lumOff val="50000"/>
      </a:schemeClr>
    </a:solidFill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5"/>
    </mc:Choice>
    <mc:Fallback>
      <c:style val="45"/>
    </mc:Fallback>
  </mc:AlternateContent>
  <c:clrMapOvr bg1="lt1" tx1="dk1" bg2="lt2" tx2="dk2" accent1="accent1" accent2="accent2" accent3="accent3" accent4="accent4" accent5="accent5" accent6="accent6" hlink="hlink" folHlink="folHlink"/>
  <c:pivotSource>
    <c:name>[merge1_2_3.xlsx]weathersit_3!PivotTable8</c:name>
    <c:fmtId val="8"/>
  </c:pivotSource>
  <c:chart>
    <c:title>
      <c:layout/>
      <c:overlay val="0"/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3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4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5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</c:pivotFmts>
    <c:plotArea>
      <c:layout/>
      <c:pieChart>
        <c:varyColors val="1"/>
        <c:ser>
          <c:idx val="0"/>
          <c:order val="0"/>
          <c:tx>
            <c:strRef>
              <c:f>weathersit_3!$B$3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rgbClr val="CAF278"/>
            </a:solidFill>
          </c:spPr>
          <c:dLbls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weathersit_3!$A$4:$A$8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weathersit_3!$B$4:$B$8</c:f>
              <c:numCache>
                <c:formatCode>General</c:formatCode>
                <c:ptCount val="4"/>
                <c:pt idx="0">
                  <c:v>3211</c:v>
                </c:pt>
                <c:pt idx="1">
                  <c:v>1538</c:v>
                </c:pt>
                <c:pt idx="2">
                  <c:v>171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weathersit_3!$C$3</c:f>
              <c:strCache>
                <c:ptCount val="1"/>
                <c:pt idx="0">
                  <c:v>Sum of registered</c:v>
                </c:pt>
              </c:strCache>
            </c:strRef>
          </c:tx>
          <c:dLbls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weathersit_3!$A$4:$A$8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weathersit_3!$C$4:$C$8</c:f>
              <c:numCache>
                <c:formatCode>General</c:formatCode>
                <c:ptCount val="4"/>
                <c:pt idx="0">
                  <c:v>34162</c:v>
                </c:pt>
                <c:pt idx="1">
                  <c:v>16568</c:v>
                </c:pt>
                <c:pt idx="2">
                  <c:v>2618</c:v>
                </c:pt>
                <c:pt idx="3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solidFill>
          <a:sysClr val="window" lastClr="FFFFFF">
            <a:lumMod val="50000"/>
          </a:sysClr>
        </a:solidFill>
      </c:spPr>
    </c:plotArea>
    <c:legend>
      <c:legendPos val="r"/>
      <c:layout/>
      <c:overlay val="0"/>
      <c:txPr>
        <a:bodyPr/>
        <a:lstStyle/>
        <a:p>
          <a:pPr>
            <a:defRPr b="1"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ysClr val="window" lastClr="FFFFFF">
            <a:lumMod val="65000"/>
            <a:shade val="30000"/>
            <a:satMod val="115000"/>
          </a:sysClr>
        </a:gs>
        <a:gs pos="50000">
          <a:sysClr val="window" lastClr="FFFFFF">
            <a:lumMod val="65000"/>
            <a:shade val="67500"/>
            <a:satMod val="115000"/>
          </a:sysClr>
        </a:gs>
        <a:gs pos="100000">
          <a:sysClr val="window" lastClr="FFFFFF">
            <a:lumMod val="65000"/>
            <a:shade val="100000"/>
            <a:satMod val="115000"/>
          </a:sysClr>
        </a:gs>
      </a:gsLst>
      <a:lin ang="8100000" scaled="1"/>
      <a:tileRect/>
    </a:gradFill>
  </c:spPr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5"/>
    </mc:Choice>
    <mc:Fallback>
      <c:style val="45"/>
    </mc:Fallback>
  </mc:AlternateContent>
  <c:clrMapOvr bg1="lt1" tx1="dk1" bg2="lt2" tx2="dk2" accent1="accent1" accent2="accent2" accent3="accent3" accent4="accent4" accent5="accent5" accent6="accent6" hlink="hlink" folHlink="folHlink"/>
  <c:pivotSource>
    <c:name>[merge1_2_3.xlsx]avg_hr!PivotTable10</c:name>
    <c:fmtId val="72"/>
  </c:pivotSource>
  <c:chart>
    <c:title>
      <c:tx>
        <c:rich>
          <a:bodyPr/>
          <a:lstStyle/>
          <a:p>
            <a:pPr>
              <a:defRPr/>
            </a:pPr>
            <a:r>
              <a:rPr lang="en-GB"/>
              <a:t>hr</a:t>
            </a:r>
          </a:p>
        </c:rich>
      </c:tx>
      <c:layout>
        <c:manualLayout>
          <c:xMode val="edge"/>
          <c:yMode val="edge"/>
          <c:x val="0.3009685068221683"/>
          <c:y val="5.1426297501683225E-2"/>
        </c:manualLayout>
      </c:layout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marker>
          <c:symbol val="none"/>
        </c:marker>
      </c:pivotFmt>
      <c:pivotFmt>
        <c:idx val="5"/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035171399904975"/>
          <c:y val="0.22009314160196045"/>
          <c:w val="0.85919609873135872"/>
          <c:h val="0.68616301289633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avg_hr!$B$3</c:f>
              <c:strCache>
                <c:ptCount val="1"/>
                <c:pt idx="0">
                  <c:v>Average of casual</c:v>
                </c:pt>
              </c:strCache>
            </c:strRef>
          </c:tx>
          <c:invertIfNegative val="0"/>
          <c:cat>
            <c:strRef>
              <c:f>avg_hr!$A$4:$A$28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avg_hr!$B$4:$B$28</c:f>
              <c:numCache>
                <c:formatCode>General</c:formatCode>
                <c:ptCount val="24"/>
                <c:pt idx="0">
                  <c:v>1.7209302325581395</c:v>
                </c:pt>
                <c:pt idx="1">
                  <c:v>1.1162790697674418</c:v>
                </c:pt>
                <c:pt idx="2">
                  <c:v>0.80487804878048785</c:v>
                </c:pt>
                <c:pt idx="3">
                  <c:v>1.096774193548387</c:v>
                </c:pt>
                <c:pt idx="4">
                  <c:v>0.21875</c:v>
                </c:pt>
                <c:pt idx="5">
                  <c:v>7.6923076923076927E-2</c:v>
                </c:pt>
                <c:pt idx="6">
                  <c:v>0.5</c:v>
                </c:pt>
                <c:pt idx="7">
                  <c:v>1.4883720930232558</c:v>
                </c:pt>
                <c:pt idx="8">
                  <c:v>3.0238095238095237</c:v>
                </c:pt>
                <c:pt idx="9">
                  <c:v>4.0952380952380949</c:v>
                </c:pt>
                <c:pt idx="10">
                  <c:v>5.1428571428571432</c:v>
                </c:pt>
                <c:pt idx="11">
                  <c:v>8.7380952380952372</c:v>
                </c:pt>
                <c:pt idx="12">
                  <c:v>11.209302325581396</c:v>
                </c:pt>
                <c:pt idx="13">
                  <c:v>11.930232558139535</c:v>
                </c:pt>
                <c:pt idx="14">
                  <c:v>10.837209302325581</c:v>
                </c:pt>
                <c:pt idx="15">
                  <c:v>12.465116279069768</c:v>
                </c:pt>
                <c:pt idx="16">
                  <c:v>11.204545454545455</c:v>
                </c:pt>
                <c:pt idx="17">
                  <c:v>8.9772727272727266</c:v>
                </c:pt>
                <c:pt idx="18">
                  <c:v>5.1627906976744189</c:v>
                </c:pt>
                <c:pt idx="19">
                  <c:v>4.3488372093023253</c:v>
                </c:pt>
                <c:pt idx="20">
                  <c:v>3.2558139534883721</c:v>
                </c:pt>
                <c:pt idx="21">
                  <c:v>2.7209302325581395</c:v>
                </c:pt>
                <c:pt idx="22">
                  <c:v>2.3953488372093021</c:v>
                </c:pt>
                <c:pt idx="23">
                  <c:v>2.3488372093023258</c:v>
                </c:pt>
              </c:numCache>
            </c:numRef>
          </c:val>
        </c:ser>
        <c:ser>
          <c:idx val="1"/>
          <c:order val="1"/>
          <c:tx>
            <c:strRef>
              <c:f>avg_hr!$C$3</c:f>
              <c:strCache>
                <c:ptCount val="1"/>
                <c:pt idx="0">
                  <c:v>Average of registered</c:v>
                </c:pt>
              </c:strCache>
            </c:strRef>
          </c:tx>
          <c:invertIfNegative val="0"/>
          <c:cat>
            <c:strRef>
              <c:f>avg_hr!$A$4:$A$28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avg_hr!$C$4:$C$28</c:f>
              <c:numCache>
                <c:formatCode>General</c:formatCode>
                <c:ptCount val="24"/>
                <c:pt idx="0">
                  <c:v>14.627906976744185</c:v>
                </c:pt>
                <c:pt idx="1">
                  <c:v>9.5813953488372086</c:v>
                </c:pt>
                <c:pt idx="2">
                  <c:v>6.3658536585365857</c:v>
                </c:pt>
                <c:pt idx="3">
                  <c:v>3.774193548387097</c:v>
                </c:pt>
                <c:pt idx="4">
                  <c:v>1.9375</c:v>
                </c:pt>
                <c:pt idx="5">
                  <c:v>4.1282051282051286</c:v>
                </c:pt>
                <c:pt idx="6">
                  <c:v>19.071428571428573</c:v>
                </c:pt>
                <c:pt idx="7">
                  <c:v>52.906976744186046</c:v>
                </c:pt>
                <c:pt idx="8">
                  <c:v>125.26190476190476</c:v>
                </c:pt>
                <c:pt idx="9">
                  <c:v>83.333333333333329</c:v>
                </c:pt>
                <c:pt idx="10">
                  <c:v>48.5</c:v>
                </c:pt>
                <c:pt idx="11">
                  <c:v>50.642857142857146</c:v>
                </c:pt>
                <c:pt idx="12">
                  <c:v>65.139534883720927</c:v>
                </c:pt>
                <c:pt idx="13">
                  <c:v>66.581395348837205</c:v>
                </c:pt>
                <c:pt idx="14">
                  <c:v>63.581395348837212</c:v>
                </c:pt>
                <c:pt idx="15">
                  <c:v>65.488372093023258</c:v>
                </c:pt>
                <c:pt idx="16">
                  <c:v>78.068181818181813</c:v>
                </c:pt>
                <c:pt idx="17">
                  <c:v>131.22727272727272</c:v>
                </c:pt>
                <c:pt idx="18">
                  <c:v>117.69767441860465</c:v>
                </c:pt>
                <c:pt idx="19">
                  <c:v>80.79069767441861</c:v>
                </c:pt>
                <c:pt idx="20">
                  <c:v>58.511627906976742</c:v>
                </c:pt>
                <c:pt idx="21">
                  <c:v>43.697674418604649</c:v>
                </c:pt>
                <c:pt idx="22">
                  <c:v>32.674418604651166</c:v>
                </c:pt>
                <c:pt idx="23">
                  <c:v>22.837209302325583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1614976"/>
        <c:axId val="191616512"/>
      </c:barChart>
      <c:catAx>
        <c:axId val="191614976"/>
        <c:scaling>
          <c:orientation val="minMax"/>
        </c:scaling>
        <c:delete val="0"/>
        <c:axPos val="b"/>
        <c:majorTickMark val="none"/>
        <c:minorTickMark val="none"/>
        <c:tickLblPos val="nextTo"/>
        <c:crossAx val="191616512"/>
        <c:crosses val="autoZero"/>
        <c:auto val="1"/>
        <c:lblAlgn val="ctr"/>
        <c:lblOffset val="100"/>
        <c:noMultiLvlLbl val="0"/>
      </c:catAx>
      <c:valAx>
        <c:axId val="19161651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916149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40234710471102741"/>
          <c:y val="1.6539610212960825E-3"/>
          <c:w val="0.21595422429608921"/>
          <c:h val="0.20180533176956159"/>
        </c:manualLayout>
      </c:layout>
      <c:overlay val="0"/>
    </c:legend>
    <c:plotVisOnly val="1"/>
    <c:dispBlanksAs val="gap"/>
    <c:showDLblsOverMax val="0"/>
  </c:chart>
  <c:spPr>
    <a:gradFill flip="none" rotWithShape="1">
      <a:gsLst>
        <a:gs pos="0">
          <a:schemeClr val="bg1">
            <a:lumMod val="85000"/>
            <a:shade val="30000"/>
            <a:satMod val="115000"/>
          </a:schemeClr>
        </a:gs>
        <a:gs pos="50000">
          <a:schemeClr val="bg1">
            <a:lumMod val="85000"/>
            <a:shade val="67500"/>
            <a:satMod val="115000"/>
          </a:schemeClr>
        </a:gs>
        <a:gs pos="100000">
          <a:schemeClr val="bg1">
            <a:lumMod val="85000"/>
            <a:shade val="100000"/>
            <a:satMod val="115000"/>
          </a:schemeClr>
        </a:gs>
      </a:gsLst>
      <a:lin ang="2700000" scaled="1"/>
      <a:tileRect/>
    </a:gradFill>
    <a:ln w="38100"/>
  </c:spPr>
  <c:txPr>
    <a:bodyPr/>
    <a:lstStyle/>
    <a:p>
      <a:pPr>
        <a:defRPr b="1">
          <a:solidFill>
            <a:schemeClr val="tx1"/>
          </a:solidFill>
        </a:defRPr>
      </a:pPr>
      <a:endParaRPr lang="en-US"/>
    </a:p>
  </c:txPr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05EBE0DF-2DD3-441F-9A8C-1D923EEA93AB}" type="datetimeFigureOut">
              <a:rPr lang="en-GB" smtClean="0"/>
              <a:t>19/1/26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9BE7F032-01F1-4460-B5CB-46E703D67816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0" y="5445224"/>
            <a:ext cx="9144000" cy="1412776"/>
          </a:xfrm>
        </p:spPr>
        <p:txBody>
          <a:bodyPr>
            <a:normAutofit/>
          </a:bodyPr>
          <a:lstStyle/>
          <a:p>
            <a:pPr algn="ctr"/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BY KOMAL JAIN</a:t>
            </a:r>
            <a:b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A PROJECT BY NEXTHING IT SOLUTION</a:t>
            </a:r>
            <a:endParaRPr lang="en-GB" sz="2000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312176"/>
          </a:xfrm>
        </p:spPr>
        <p:txBody>
          <a:bodyPr/>
          <a:lstStyle/>
          <a:p>
            <a:r>
              <a:rPr lang="en-GB" dirty="0" err="1" smtClean="0"/>
              <a:t>b</a:t>
            </a:r>
            <a:r>
              <a:rPr lang="en-GB" sz="32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bbb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" y="43167"/>
            <a:ext cx="6806674" cy="51125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7"/>
          <p:cNvSpPr/>
          <p:nvPr/>
        </p:nvSpPr>
        <p:spPr>
          <a:xfrm>
            <a:off x="45401" y="3789040"/>
            <a:ext cx="3158447" cy="122413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DBFF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BIKE  SHARING </a:t>
            </a:r>
          </a:p>
          <a:p>
            <a:r>
              <a:rPr lang="en-GB" sz="3200" b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DEMAND   ANALYSIS  </a:t>
            </a:r>
          </a:p>
          <a:p>
            <a:r>
              <a:rPr lang="en-GB" sz="3200" b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 USING  EXCEL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28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 smtClean="0"/>
              <a:t> </a:t>
            </a:r>
            <a:r>
              <a:rPr lang="en-GB" sz="3600" dirty="0">
                <a:latin typeface="Arial Black" panose="020B0A04020102020204" pitchFamily="34" charset="0"/>
              </a:rPr>
              <a:t>Introduction to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2348880"/>
            <a:ext cx="7713421" cy="3797009"/>
          </a:xfrm>
        </p:spPr>
        <p:txBody>
          <a:bodyPr>
            <a:normAutofit/>
          </a:bodyPr>
          <a:lstStyle/>
          <a:p>
            <a:r>
              <a:rPr lang="en-GB" b="1" dirty="0" smtClean="0">
                <a:latin typeface="Bell MT" panose="02020503060305020303" pitchFamily="18" charset="0"/>
              </a:rPr>
              <a:t>Data Scope:</a:t>
            </a:r>
            <a:r>
              <a:rPr lang="en-GB" dirty="0" smtClean="0">
                <a:latin typeface="Bell MT" panose="02020503060305020303" pitchFamily="18" charset="0"/>
              </a:rPr>
              <a:t> This project </a:t>
            </a:r>
            <a:r>
              <a:rPr lang="en-GB" dirty="0" err="1" smtClean="0">
                <a:latin typeface="Bell MT" panose="02020503060305020303" pitchFamily="18" charset="0"/>
              </a:rPr>
              <a:t>analyzed</a:t>
            </a:r>
            <a:r>
              <a:rPr lang="en-GB" dirty="0" smtClean="0">
                <a:latin typeface="Bell MT" panose="02020503060305020303" pitchFamily="18" charset="0"/>
              </a:rPr>
              <a:t> </a:t>
            </a:r>
            <a:r>
              <a:rPr lang="en-GB" dirty="0" smtClean="0">
                <a:latin typeface="Bell MT" panose="02020503060305020303" pitchFamily="18" charset="0"/>
              </a:rPr>
              <a:t>1,000 </a:t>
            </a:r>
            <a:r>
              <a:rPr lang="en-GB" dirty="0" smtClean="0">
                <a:latin typeface="Bell MT" panose="02020503060305020303" pitchFamily="18" charset="0"/>
              </a:rPr>
              <a:t>records from a bike sharing system.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Key </a:t>
            </a:r>
            <a:r>
              <a:rPr lang="en-GB" b="1" dirty="0">
                <a:latin typeface="Bell MT" panose="02020503060305020303" pitchFamily="18" charset="0"/>
              </a:rPr>
              <a:t>Parameters:</a:t>
            </a:r>
            <a:r>
              <a:rPr lang="en-GB" dirty="0">
                <a:latin typeface="Bell MT" panose="02020503060305020303" pitchFamily="18" charset="0"/>
              </a:rPr>
              <a:t> </a:t>
            </a:r>
            <a:r>
              <a:rPr lang="en-GB" dirty="0" smtClean="0">
                <a:latin typeface="Bell MT" panose="02020503060305020303" pitchFamily="18" charset="0"/>
              </a:rPr>
              <a:t>  This </a:t>
            </a:r>
            <a:r>
              <a:rPr lang="en-GB" dirty="0">
                <a:latin typeface="Bell MT" panose="02020503060305020303" pitchFamily="18" charset="0"/>
              </a:rPr>
              <a:t>includes data for time (Date/Hour), weather (Weather/Temp), and user type (Casual/Registered).</a:t>
            </a:r>
          </a:p>
          <a:p>
            <a:r>
              <a:rPr lang="en-GB" b="1" dirty="0">
                <a:latin typeface="Bell MT" panose="02020503060305020303" pitchFamily="18" charset="0"/>
              </a:rPr>
              <a:t>Objective:</a:t>
            </a:r>
            <a:r>
              <a:rPr lang="en-GB" dirty="0">
                <a:latin typeface="Bell MT" panose="02020503060305020303" pitchFamily="18" charset="0"/>
              </a:rPr>
              <a:t> To create an accurate report by combining different data files.</a:t>
            </a:r>
          </a:p>
          <a:p>
            <a:endParaRPr lang="en-GB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79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1681">
              <a:srgbClr val="B1E154"/>
            </a:gs>
            <a:gs pos="36000">
              <a:srgbClr val="A5D34C"/>
            </a:gs>
            <a:gs pos="0">
              <a:schemeClr val="bg2">
                <a:shade val="94000"/>
                <a:satMod val="114000"/>
                <a:lumMod val="96000"/>
              </a:schemeClr>
            </a:gs>
            <a:gs pos="62000">
              <a:schemeClr val="bg2">
                <a:tint val="92000"/>
                <a:shade val="66000"/>
                <a:satMod val="110000"/>
                <a:lumMod val="80000"/>
              </a:schemeClr>
            </a:gs>
            <a:gs pos="100000">
              <a:schemeClr val="bg2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b="1" dirty="0" smtClean="0"/>
              <a:t> </a:t>
            </a:r>
            <a:r>
              <a:rPr lang="en-GB" sz="3200" b="1" dirty="0">
                <a:latin typeface="Arial Black" panose="020B0A04020102020204" pitchFamily="34" charset="0"/>
              </a:rPr>
              <a:t>Data Merger Process - Phase 1</a:t>
            </a:r>
            <a:br>
              <a:rPr lang="en-GB" sz="3200" b="1" dirty="0">
                <a:latin typeface="Arial Black" panose="020B0A04020102020204" pitchFamily="34" charset="0"/>
              </a:rPr>
            </a:b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2780928"/>
            <a:ext cx="6561293" cy="2664296"/>
          </a:xfrm>
        </p:spPr>
        <p:txBody>
          <a:bodyPr>
            <a:normAutofit lnSpcReduction="10000"/>
          </a:bodyPr>
          <a:lstStyle/>
          <a:p>
            <a:r>
              <a:rPr lang="en-GB" b="1" dirty="0" smtClean="0">
                <a:latin typeface="Bell MT" panose="02020503060305020303" pitchFamily="18" charset="0"/>
              </a:rPr>
              <a:t>Action:</a:t>
            </a:r>
            <a:r>
              <a:rPr lang="en-GB" dirty="0" smtClean="0">
                <a:latin typeface="Bell MT" panose="02020503060305020303" pitchFamily="18" charset="0"/>
              </a:rPr>
              <a:t> datesheet1 and dateset2are added together.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Key Column (Primary Key):</a:t>
            </a:r>
            <a:r>
              <a:rPr lang="en-GB" dirty="0" smtClean="0">
                <a:latin typeface="Bell MT" panose="02020503060305020303" pitchFamily="18" charset="0"/>
              </a:rPr>
              <a:t> instant Both the files are linked using the column.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File:</a:t>
            </a:r>
            <a:r>
              <a:rPr lang="en-GB" dirty="0" smtClean="0">
                <a:latin typeface="Bell MT" panose="02020503060305020303" pitchFamily="18" charset="0"/>
              </a:rPr>
              <a:t> mergedate1_2.xlsx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Result</a:t>
            </a:r>
            <a:r>
              <a:rPr lang="en-GB" b="1" dirty="0">
                <a:latin typeface="Bell MT" panose="02020503060305020303" pitchFamily="18" charset="0"/>
              </a:rPr>
              <a:t>:</a:t>
            </a:r>
            <a:r>
              <a:rPr lang="en-GB" dirty="0">
                <a:latin typeface="Bell MT" panose="02020503060305020303" pitchFamily="18" charset="0"/>
              </a:rPr>
              <a:t> Weather data and user count data were brought into a single table.</a:t>
            </a:r>
          </a:p>
          <a:p>
            <a:endParaRPr lang="en-GB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4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62000">
              <a:schemeClr val="bg2">
                <a:tint val="92000"/>
                <a:shade val="66000"/>
                <a:satMod val="110000"/>
                <a:lumMod val="80000"/>
              </a:schemeClr>
            </a:gs>
            <a:gs pos="100000">
              <a:schemeClr val="bg2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>
                <a:latin typeface="Arial Black" panose="020B0A04020102020204" pitchFamily="34" charset="0"/>
              </a:rPr>
              <a:t> </a:t>
            </a:r>
            <a:r>
              <a:rPr lang="en-GB" sz="3200" dirty="0">
                <a:latin typeface="Arial Black" panose="020B0A04020102020204" pitchFamily="34" charset="0"/>
              </a:rPr>
              <a:t>Data Merger Process - Step 2 (Final 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2492896"/>
            <a:ext cx="6633301" cy="3220945"/>
          </a:xfrm>
        </p:spPr>
        <p:txBody>
          <a:bodyPr>
            <a:normAutofit/>
          </a:bodyPr>
          <a:lstStyle/>
          <a:p>
            <a:r>
              <a:rPr lang="en-GB" b="1" dirty="0" smtClean="0">
                <a:latin typeface="Bell MT" panose="02020503060305020303" pitchFamily="18" charset="0"/>
              </a:rPr>
              <a:t>Action:</a:t>
            </a:r>
            <a:r>
              <a:rPr lang="en-GB" dirty="0" smtClean="0">
                <a:latin typeface="Bell MT" panose="02020503060305020303" pitchFamily="18" charset="0"/>
              </a:rPr>
              <a:t>dateset3 Append the previously merged data (records 620 to 1000).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File:</a:t>
            </a:r>
            <a:r>
              <a:rPr lang="en-GB" dirty="0" smtClean="0">
                <a:latin typeface="Bell MT" panose="02020503060305020303" pitchFamily="18" charset="0"/>
              </a:rPr>
              <a:t> merge1_2_3.xlsx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Outcome</a:t>
            </a:r>
            <a:r>
              <a:rPr lang="en-GB" b="1" dirty="0">
                <a:latin typeface="Bell MT" panose="02020503060305020303" pitchFamily="18" charset="0"/>
              </a:rPr>
              <a:t>:</a:t>
            </a:r>
            <a:r>
              <a:rPr lang="en-GB" dirty="0">
                <a:latin typeface="Bell MT" panose="02020503060305020303" pitchFamily="18" charset="0"/>
              </a:rPr>
              <a:t> merge123.csv A file is created containing all the data from start to finish.</a:t>
            </a:r>
          </a:p>
          <a:p>
            <a:endParaRPr lang="en-GB" sz="20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052736"/>
            <a:ext cx="7312658" cy="648072"/>
          </a:xfrm>
        </p:spPr>
        <p:txBody>
          <a:bodyPr>
            <a:normAutofit/>
          </a:bodyPr>
          <a:lstStyle/>
          <a:p>
            <a:r>
              <a:rPr lang="en-GB" sz="3200" dirty="0" smtClean="0">
                <a:latin typeface="Arial Black" panose="020B0A04020102020204" pitchFamily="34" charset="0"/>
              </a:rPr>
              <a:t> </a:t>
            </a:r>
            <a:r>
              <a:rPr lang="en-GB" sz="3200" dirty="0">
                <a:latin typeface="Arial Black" panose="020B0A04020102020204" pitchFamily="34" charset="0"/>
              </a:rPr>
              <a:t>Key Formulas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4464611" cy="3627765"/>
          </a:xfrm>
        </p:spPr>
        <p:txBody>
          <a:bodyPr>
            <a:normAutofit lnSpcReduction="10000"/>
          </a:bodyPr>
          <a:lstStyle/>
          <a:p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The following formula was used to validate the data and make calculations:</a:t>
            </a:r>
          </a:p>
          <a:p>
            <a:r>
              <a:rPr lang="en-GB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Total </a:t>
            </a:r>
            <a:r>
              <a:rPr lang="en-GB" sz="1800" b="1" dirty="0">
                <a:latin typeface="Bell MT" panose="02020503060305020303" pitchFamily="18" charset="0"/>
                <a:cs typeface="Arial" panose="020B0604020202020204" pitchFamily="34" charset="0"/>
              </a:rPr>
              <a:t>Count Formula </a:t>
            </a:r>
            <a:endParaRPr lang="en-GB" sz="1800" dirty="0">
              <a:latin typeface="Bell MT" panose="02020503060305020303" pitchFamily="18" charset="0"/>
              <a:cs typeface="Arial" panose="020B0604020202020204" pitchFamily="34" charset="0"/>
            </a:endParaRPr>
          </a:p>
          <a:p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$$  </a:t>
            </a:r>
            <a:r>
              <a:rPr lang="en-GB" sz="1800" dirty="0" err="1" smtClean="0">
                <a:latin typeface="Bell MT" panose="02020503060305020303" pitchFamily="18" charset="0"/>
                <a:cs typeface="Arial" panose="020B0604020202020204" pitchFamily="34" charset="0"/>
              </a:rPr>
              <a:t>dteday</a:t>
            </a:r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 =  </a:t>
            </a:r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casual </a:t>
            </a:r>
            <a:r>
              <a:rPr lang="en-GB" sz="1800" dirty="0">
                <a:latin typeface="Bell MT" panose="02020503060305020303" pitchFamily="18" charset="0"/>
                <a:cs typeface="Arial" panose="020B0604020202020204" pitchFamily="34" charset="0"/>
              </a:rPr>
              <a:t>+ registered$$</a:t>
            </a:r>
          </a:p>
          <a:p>
            <a:r>
              <a:rPr lang="en-GB" sz="1800" dirty="0">
                <a:latin typeface="Bell MT" panose="02020503060305020303" pitchFamily="18" charset="0"/>
                <a:cs typeface="Arial" panose="020B0604020202020204" pitchFamily="34" charset="0"/>
              </a:rPr>
              <a:t>(This ensures that the total rentals are a combination of casual and registered users.)</a:t>
            </a:r>
          </a:p>
          <a:p>
            <a:r>
              <a:rPr lang="en-GB" sz="1800" b="1" dirty="0">
                <a:latin typeface="Bell MT" panose="02020503060305020303" pitchFamily="18" charset="0"/>
                <a:cs typeface="Arial" panose="020B0604020202020204" pitchFamily="34" charset="0"/>
              </a:rPr>
              <a:t>Weather Analysis:</a:t>
            </a:r>
            <a:r>
              <a:rPr lang="en-GB" sz="1800" dirty="0">
                <a:latin typeface="Bell MT" panose="02020503060305020303" pitchFamily="18" charset="0"/>
                <a:cs typeface="Arial" panose="020B0604020202020204" pitchFamily="34" charset="0"/>
              </a:rPr>
              <a:t> </a:t>
            </a:r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 Weather </a:t>
            </a:r>
            <a:r>
              <a:rPr lang="en-GB" sz="1800" dirty="0">
                <a:latin typeface="Bell MT" panose="02020503060305020303" pitchFamily="18" charset="0"/>
                <a:cs typeface="Arial" panose="020B0604020202020204" pitchFamily="34" charset="0"/>
              </a:rPr>
              <a:t>conditions mapped on a scale of 1 to 4.</a:t>
            </a:r>
          </a:p>
          <a:p>
            <a:r>
              <a:rPr lang="en-GB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Average  Calculation  :</a:t>
            </a:r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Average   of </a:t>
            </a:r>
            <a:r>
              <a:rPr lang="en-GB" sz="1800" dirty="0" err="1" smtClean="0">
                <a:latin typeface="Bell MT" panose="02020503060305020303" pitchFamily="18" charset="0"/>
                <a:cs typeface="Arial" panose="020B0604020202020204" pitchFamily="34" charset="0"/>
              </a:rPr>
              <a:t>dteday</a:t>
            </a:r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 </a:t>
            </a:r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Used </a:t>
            </a:r>
            <a:r>
              <a:rPr lang="en-GB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in a pivot table to calculate hourly demand.</a:t>
            </a:r>
            <a:endParaRPr lang="en-GB" sz="1800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2707817"/>
              </p:ext>
            </p:extLst>
          </p:nvPr>
        </p:nvGraphicFramePr>
        <p:xfrm>
          <a:off x="5004048" y="2060848"/>
          <a:ext cx="3600400" cy="432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4219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76672"/>
            <a:ext cx="7024744" cy="1080120"/>
          </a:xfrm>
        </p:spPr>
        <p:txBody>
          <a:bodyPr>
            <a:normAutofit/>
          </a:bodyPr>
          <a:lstStyle/>
          <a:p>
            <a:pPr algn="ctr"/>
            <a:r>
              <a:rPr lang="en-GB" sz="3100" dirty="0" smtClean="0"/>
              <a:t> </a:t>
            </a:r>
            <a:r>
              <a:rPr lang="en-GB" sz="3100" dirty="0" smtClean="0">
                <a:latin typeface="Arial Black" panose="020B0A04020102020204" pitchFamily="34" charset="0"/>
              </a:rPr>
              <a:t>Pivot Table Analysis - Weather Impact</a:t>
            </a:r>
            <a:endParaRPr lang="en-GB" sz="31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4077072"/>
            <a:ext cx="6777317" cy="1708777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000" b="1" dirty="0" smtClean="0">
                <a:latin typeface="Arial Narrow" panose="020B0606020202030204" pitchFamily="34" charset="0"/>
              </a:rPr>
              <a:t>Weather </a:t>
            </a:r>
            <a:r>
              <a:rPr lang="en-GB" sz="2000" b="1" dirty="0">
                <a:latin typeface="Arial Narrow" panose="020B0606020202030204" pitchFamily="34" charset="0"/>
              </a:rPr>
              <a:t>1 (Clear):</a:t>
            </a:r>
            <a:r>
              <a:rPr lang="en-GB" sz="2000" dirty="0">
                <a:latin typeface="Arial Narrow" panose="020B0606020202030204" pitchFamily="34" charset="0"/>
              </a:rPr>
              <a:t> Highest number of bookings (approximately 37,000+).</a:t>
            </a:r>
          </a:p>
          <a:p>
            <a:pPr algn="just"/>
            <a:r>
              <a:rPr lang="en-GB" sz="2000" b="1" dirty="0">
                <a:latin typeface="Arial Narrow" panose="020B0606020202030204" pitchFamily="34" charset="0"/>
              </a:rPr>
              <a:t>Weather 4 (Heavy Rain):</a:t>
            </a:r>
            <a:r>
              <a:rPr lang="en-GB" sz="2000" dirty="0">
                <a:latin typeface="Arial Narrow" panose="020B0606020202030204" pitchFamily="34" charset="0"/>
              </a:rPr>
              <a:t> Lowest bookings (only 36).</a:t>
            </a:r>
          </a:p>
          <a:p>
            <a:pPr algn="just"/>
            <a:r>
              <a:rPr lang="en-GB" sz="2000" b="1" dirty="0">
                <a:latin typeface="Arial Narrow" panose="020B0606020202030204" pitchFamily="34" charset="0"/>
              </a:rPr>
              <a:t>Conclusion:</a:t>
            </a:r>
            <a:r>
              <a:rPr lang="en-GB" sz="2000" dirty="0">
                <a:latin typeface="Arial Narrow" panose="020B0606020202030204" pitchFamily="34" charset="0"/>
              </a:rPr>
              <a:t> The demand for bikes is highest in clear weather.</a:t>
            </a:r>
          </a:p>
          <a:p>
            <a:pPr algn="just"/>
            <a:r>
              <a:rPr lang="en-GB" sz="2000" dirty="0" smtClean="0">
                <a:latin typeface="Arial Narrow" panose="020B0606020202030204" pitchFamily="34" charset="0"/>
              </a:rPr>
              <a:t>weathersit_3.csvAccording to</a:t>
            </a:r>
            <a:r>
              <a:rPr lang="en-GB" sz="2000" b="1" dirty="0" smtClean="0">
                <a:latin typeface="Arial Narrow" panose="020B0606020202030204" pitchFamily="34" charset="0"/>
              </a:rPr>
              <a:t> Insight :</a:t>
            </a:r>
            <a:endParaRPr lang="en-GB" sz="2000" dirty="0" smtClean="0">
              <a:latin typeface="Arial Narrow" panose="020B0606020202030204" pitchFamily="34" charset="0"/>
            </a:endParaRP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405301"/>
              </p:ext>
            </p:extLst>
          </p:nvPr>
        </p:nvGraphicFramePr>
        <p:xfrm>
          <a:off x="2267744" y="1628800"/>
          <a:ext cx="4192488" cy="2304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6767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160829"/>
            <a:ext cx="6334519" cy="1423773"/>
          </a:xfrm>
        </p:spPr>
        <p:txBody>
          <a:bodyPr>
            <a:normAutofit/>
          </a:bodyPr>
          <a:lstStyle/>
          <a:p>
            <a:r>
              <a:rPr lang="en-GB" sz="3200" dirty="0" smtClean="0">
                <a:latin typeface="Bodoni MT Black" panose="02070A03080606020203" pitchFamily="18" charset="0"/>
              </a:rPr>
              <a:t>Pivot </a:t>
            </a:r>
            <a:r>
              <a:rPr lang="en-GB" sz="3200" dirty="0">
                <a:latin typeface="Bodoni MT Black" panose="02070A03080606020203" pitchFamily="18" charset="0"/>
              </a:rPr>
              <a:t>Table Analysis - Hourly Trends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616" y="4581128"/>
            <a:ext cx="6709475" cy="1296144"/>
          </a:xfrm>
        </p:spPr>
        <p:txBody>
          <a:bodyPr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800" b="1" dirty="0">
                <a:solidFill>
                  <a:schemeClr val="tx1"/>
                </a:solidFill>
                <a:latin typeface="Bell MT" panose="02020503060305020303" pitchFamily="18" charset="0"/>
              </a:rPr>
              <a:t>Peak Hours</a:t>
            </a:r>
            <a:r>
              <a:rPr lang="en-GB" sz="18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: </a:t>
            </a:r>
            <a:r>
              <a:rPr lang="en-GB" sz="18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</a:t>
            </a:r>
            <a:r>
              <a:rPr lang="en-GB" sz="1800" dirty="0">
                <a:solidFill>
                  <a:schemeClr val="tx1"/>
                </a:solidFill>
                <a:latin typeface="Bell MT" panose="02020503060305020303" pitchFamily="18" charset="0"/>
              </a:rPr>
              <a:t>8 AM and 5-6 PM saw the most rentals.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800" b="1" dirty="0">
                <a:solidFill>
                  <a:schemeClr val="tx1"/>
                </a:solidFill>
                <a:latin typeface="Bell MT" panose="02020503060305020303" pitchFamily="18" charset="0"/>
              </a:rPr>
              <a:t>Formula logic</a:t>
            </a:r>
            <a:r>
              <a:rPr lang="en-GB" sz="18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: </a:t>
            </a:r>
            <a:r>
              <a:rPr lang="en-GB" sz="18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</a:t>
            </a:r>
            <a:r>
              <a:rPr lang="en-GB" sz="1800" dirty="0">
                <a:solidFill>
                  <a:schemeClr val="tx1"/>
                </a:solidFill>
                <a:latin typeface="Bell MT" panose="02020503060305020303" pitchFamily="18" charset="0"/>
              </a:rPr>
              <a:t>Sum of registered Higher in the morning, which </a:t>
            </a:r>
            <a:r>
              <a:rPr lang="en-GB" sz="18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  reflects </a:t>
            </a:r>
            <a:r>
              <a:rPr lang="en-GB" sz="1800" dirty="0">
                <a:solidFill>
                  <a:schemeClr val="tx1"/>
                </a:solidFill>
                <a:latin typeface="Bell MT" panose="02020503060305020303" pitchFamily="18" charset="0"/>
              </a:rPr>
              <a:t>people going to office.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800" b="1" dirty="0">
                <a:solidFill>
                  <a:schemeClr val="tx1"/>
                </a:solidFill>
                <a:latin typeface="Bell MT" panose="02020503060305020303" pitchFamily="18" charset="0"/>
              </a:rPr>
              <a:t>Off-peak:</a:t>
            </a:r>
            <a:r>
              <a:rPr lang="en-GB" sz="1800" dirty="0">
                <a:solidFill>
                  <a:schemeClr val="tx1"/>
                </a:solidFill>
                <a:latin typeface="Bell MT" panose="02020503060305020303" pitchFamily="18" charset="0"/>
              </a:rPr>
              <a:t> Rentals are lowest from 12 midnight to 5 am.</a:t>
            </a:r>
          </a:p>
          <a:p>
            <a:endParaRPr lang="en-GB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0418206"/>
              </p:ext>
            </p:extLst>
          </p:nvPr>
        </p:nvGraphicFramePr>
        <p:xfrm>
          <a:off x="1403648" y="1628800"/>
          <a:ext cx="6255196" cy="2716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4749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196752"/>
            <a:ext cx="7024744" cy="673144"/>
          </a:xfrm>
        </p:spPr>
        <p:txBody>
          <a:bodyPr>
            <a:normAutofit/>
          </a:bodyPr>
          <a:lstStyle/>
          <a:p>
            <a:r>
              <a:rPr lang="en-GB" sz="3200" dirty="0" smtClean="0">
                <a:latin typeface="Bodoni MT Black" panose="02070A03080606020203" pitchFamily="18" charset="0"/>
              </a:rPr>
              <a:t> </a:t>
            </a:r>
            <a:r>
              <a:rPr lang="en-GB" sz="2400" dirty="0" smtClean="0">
                <a:latin typeface="Bodoni MT Black" panose="02070A03080606020203" pitchFamily="18" charset="0"/>
              </a:rPr>
              <a:t>User  </a:t>
            </a:r>
            <a:r>
              <a:rPr lang="en-GB" sz="2400" dirty="0" err="1" smtClean="0">
                <a:latin typeface="Bodoni MT Black" panose="02070A03080606020203" pitchFamily="18" charset="0"/>
              </a:rPr>
              <a:t>Behavior</a:t>
            </a:r>
            <a:r>
              <a:rPr lang="en-GB" sz="2400" dirty="0" smtClean="0">
                <a:latin typeface="Bodoni MT Black" panose="02070A03080606020203" pitchFamily="18" charset="0"/>
              </a:rPr>
              <a:t>  (Casual vs Registered)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988840"/>
            <a:ext cx="6777317" cy="3364961"/>
          </a:xfrm>
        </p:spPr>
        <p:txBody>
          <a:bodyPr>
            <a:normAutofit/>
          </a:bodyPr>
          <a:lstStyle/>
          <a:p>
            <a:r>
              <a:rPr lang="en-GB" sz="2000" b="1" dirty="0" smtClean="0">
                <a:latin typeface="Arial Narrow" panose="020B0606020202030204" pitchFamily="34" charset="0"/>
              </a:rPr>
              <a:t>Registered Users:</a:t>
            </a:r>
            <a:r>
              <a:rPr lang="en-GB" sz="2000" dirty="0" smtClean="0">
                <a:latin typeface="Arial Narrow" panose="020B0606020202030204" pitchFamily="34" charset="0"/>
              </a:rPr>
              <a:t> Their number is more than </a:t>
            </a:r>
            <a:r>
              <a:rPr lang="en-GB" sz="2000" b="1" dirty="0" smtClean="0">
                <a:latin typeface="Arial Narrow" panose="020B0606020202030204" pitchFamily="34" charset="0"/>
              </a:rPr>
              <a:t>91% of the total data (about 53,383).</a:t>
            </a:r>
            <a:endParaRPr lang="en-GB" sz="2000" dirty="0" smtClean="0">
              <a:latin typeface="Arial Narrow" panose="020B0606020202030204" pitchFamily="34" charset="0"/>
            </a:endParaRPr>
          </a:p>
          <a:p>
            <a:r>
              <a:rPr lang="en-GB" sz="2000" b="1" dirty="0" smtClean="0">
                <a:latin typeface="Arial Narrow" panose="020B0606020202030204" pitchFamily="34" charset="0"/>
              </a:rPr>
              <a:t>Casual </a:t>
            </a:r>
            <a:r>
              <a:rPr lang="en-GB" sz="2000" b="1" dirty="0">
                <a:latin typeface="Arial Narrow" panose="020B0606020202030204" pitchFamily="34" charset="0"/>
              </a:rPr>
              <a:t>Users:</a:t>
            </a:r>
            <a:r>
              <a:rPr lang="en-GB" sz="2000" dirty="0">
                <a:latin typeface="Arial Narrow" panose="020B0606020202030204" pitchFamily="34" charset="0"/>
              </a:rPr>
              <a:t> They are few in number (around 4,921) and are mostly rentals for vacations or during good weather.</a:t>
            </a:r>
          </a:p>
          <a:p>
            <a:r>
              <a:rPr lang="en-GB" sz="2000" b="1" dirty="0">
                <a:latin typeface="Arial Narrow" panose="020B0606020202030204" pitchFamily="34" charset="0"/>
              </a:rPr>
              <a:t>Insight: </a:t>
            </a:r>
            <a:r>
              <a:rPr lang="en-GB" sz="2000" dirty="0">
                <a:latin typeface="Arial Narrow" panose="020B0606020202030204" pitchFamily="34" charset="0"/>
              </a:rPr>
              <a:t>The company has a strong base of loyal (registered) users.</a:t>
            </a:r>
          </a:p>
          <a:p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3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b="1" dirty="0"/>
              <a:t>Slide 9: Data Cleaning and Validation (Data Quality)</a:t>
            </a:r>
            <a:br>
              <a:rPr lang="en-GB" sz="2400" b="1" dirty="0"/>
            </a:br>
            <a:endParaRPr lang="en-GB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916832"/>
            <a:ext cx="6696744" cy="4013033"/>
          </a:xfrm>
        </p:spPr>
        <p:txBody>
          <a:bodyPr>
            <a:normAutofit/>
          </a:bodyPr>
          <a:lstStyle/>
          <a:p>
            <a:r>
              <a:rPr lang="en-GB" b="1" dirty="0" smtClean="0">
                <a:latin typeface="Bell MT" panose="02020503060305020303" pitchFamily="18" charset="0"/>
              </a:rPr>
              <a:t>Validation : </a:t>
            </a:r>
            <a:r>
              <a:rPr lang="en-GB" dirty="0" smtClean="0">
                <a:latin typeface="Bell MT" panose="02020503060305020303" pitchFamily="18" charset="0"/>
              </a:rPr>
              <a:t>instant </a:t>
            </a:r>
            <a:r>
              <a:rPr lang="en-GB" dirty="0">
                <a:latin typeface="Bell MT" panose="02020503060305020303" pitchFamily="18" charset="0"/>
              </a:rPr>
              <a:t>IDs are matched during the merge to ensure that data is not incorrectly merged.</a:t>
            </a:r>
          </a:p>
          <a:p>
            <a:r>
              <a:rPr lang="en-GB" b="1" dirty="0">
                <a:latin typeface="Bell MT" panose="02020503060305020303" pitchFamily="18" charset="0"/>
              </a:rPr>
              <a:t>Missing Values:</a:t>
            </a:r>
            <a:r>
              <a:rPr lang="en-GB" dirty="0">
                <a:latin typeface="Bell MT" panose="02020503060305020303" pitchFamily="18" charset="0"/>
              </a:rPr>
              <a:t> Columns like temperature </a:t>
            </a:r>
            <a:r>
              <a:rPr lang="en-GB" dirty="0" smtClean="0">
                <a:latin typeface="Bell MT" panose="02020503060305020303" pitchFamily="18" charset="0"/>
              </a:rPr>
              <a:t>( </a:t>
            </a:r>
            <a:r>
              <a:rPr lang="en-GB" dirty="0" err="1" smtClean="0">
                <a:latin typeface="Bell MT" panose="02020503060305020303" pitchFamily="18" charset="0"/>
              </a:rPr>
              <a:t>atemp</a:t>
            </a:r>
            <a:r>
              <a:rPr lang="en-GB" dirty="0">
                <a:latin typeface="Bell MT" panose="02020503060305020303" pitchFamily="18" charset="0"/>
              </a:rPr>
              <a:t>) and humidity (hum) were corrected to ensure accurate analysis.</a:t>
            </a:r>
          </a:p>
          <a:p>
            <a:r>
              <a:rPr lang="en-GB" b="1" dirty="0">
                <a:latin typeface="Bell MT" panose="02020503060305020303" pitchFamily="18" charset="0"/>
              </a:rPr>
              <a:t>Consistency:</a:t>
            </a:r>
            <a:r>
              <a:rPr lang="en-GB" dirty="0">
                <a:latin typeface="Bell MT" panose="02020503060305020303" pitchFamily="18" charset="0"/>
              </a:rPr>
              <a:t> All 1,000 records are now available in a consistent format.</a:t>
            </a:r>
          </a:p>
        </p:txBody>
      </p:sp>
    </p:spTree>
    <p:extLst>
      <p:ext uri="{BB962C8B-B14F-4D97-AF65-F5344CB8AC3E}">
        <p14:creationId xmlns:p14="http://schemas.microsoft.com/office/powerpoint/2010/main" val="239370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980728"/>
            <a:ext cx="7024744" cy="1143000"/>
          </a:xfrm>
        </p:spPr>
        <p:txBody>
          <a:bodyPr>
            <a:normAutofit/>
          </a:bodyPr>
          <a:lstStyle/>
          <a:p>
            <a:r>
              <a:rPr lang="en-GB" sz="2800" dirty="0" smtClean="0"/>
              <a:t> </a:t>
            </a:r>
            <a:r>
              <a:rPr lang="en-GB" sz="2800" dirty="0">
                <a:latin typeface="Arial Black" panose="020B0A04020102020204" pitchFamily="34" charset="0"/>
              </a:rP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latin typeface="Bell MT" panose="02020503060305020303" pitchFamily="18" charset="0"/>
              </a:rPr>
              <a:t>Summary:</a:t>
            </a:r>
            <a:r>
              <a:rPr lang="en-GB" dirty="0" smtClean="0">
                <a:latin typeface="Bell MT" panose="02020503060305020303" pitchFamily="18" charset="0"/>
              </a:rPr>
              <a:t> Data integration was successful and a direct correlation of rentals with weather/time was found.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Recommendation </a:t>
            </a:r>
            <a:r>
              <a:rPr lang="en-GB" b="1" dirty="0">
                <a:latin typeface="Bell MT" panose="02020503060305020303" pitchFamily="18" charset="0"/>
              </a:rPr>
              <a:t>1:</a:t>
            </a:r>
            <a:r>
              <a:rPr lang="en-GB" dirty="0">
                <a:latin typeface="Bell MT" panose="02020503060305020303" pitchFamily="18" charset="0"/>
              </a:rPr>
              <a:t> Bike availability should be increased during office hours (peak hours).</a:t>
            </a:r>
          </a:p>
          <a:p>
            <a:r>
              <a:rPr lang="en-GB" b="1" dirty="0" smtClean="0">
                <a:latin typeface="Bell MT" panose="02020503060305020303" pitchFamily="18" charset="0"/>
              </a:rPr>
              <a:t>Recommendation 2:</a:t>
            </a:r>
            <a:r>
              <a:rPr lang="en-GB" dirty="0" smtClean="0">
                <a:latin typeface="Bell MT" panose="02020503060305020303" pitchFamily="18" charset="0"/>
              </a:rPr>
              <a:t> Special offers can be given during bad weather (Weather 3 &amp; 4) to maintain demand.</a:t>
            </a:r>
          </a:p>
          <a:p>
            <a:endParaRPr lang="en-GB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55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641</TotalTime>
  <Words>512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Austin</vt:lpstr>
      <vt:lpstr>BY KOMAL JAIN A PROJECT BY NEXTHING IT SOLUTION</vt:lpstr>
      <vt:lpstr> Introduction to Datasets</vt:lpstr>
      <vt:lpstr> Data Merger Process - Phase 1 </vt:lpstr>
      <vt:lpstr> Data Merger Process - Step 2 (Final Integration)</vt:lpstr>
      <vt:lpstr> Key Formulas Applied</vt:lpstr>
      <vt:lpstr> Pivot Table Analysis - Weather Impact</vt:lpstr>
      <vt:lpstr>Pivot Table Analysis - Hourly Trends</vt:lpstr>
      <vt:lpstr> User  Behavior  (Casual vs Registered)</vt:lpstr>
      <vt:lpstr>Slide 9: Data Cleaning and Validation (Data Quality) </vt:lpstr>
      <vt:lpstr> Conclusion &amp; Recommendations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36</cp:revision>
  <dcterms:created xsi:type="dcterms:W3CDTF">2026-01-14T12:12:21Z</dcterms:created>
  <dcterms:modified xsi:type="dcterms:W3CDTF">2026-01-19T09:51:15Z</dcterms:modified>
</cp:coreProperties>
</file>